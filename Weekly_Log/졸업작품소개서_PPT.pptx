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94660"/>
  </p:normalViewPr>
  <p:slideViewPr>
    <p:cSldViewPr snapToGrid="0">
      <p:cViewPr>
        <p:scale>
          <a:sx n="100" d="100"/>
          <a:sy n="100" d="100"/>
        </p:scale>
        <p:origin x="1806" y="-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28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61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9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1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91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8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91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29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61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12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43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FBEBB-F9EA-4048-BA7C-57E63BDF36C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D7ACB-1866-4A60-A9F0-DC95DDEC8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7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1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0ABD8923-E8A5-2CFE-8A44-FF1822B0AFFE}"/>
              </a:ext>
            </a:extLst>
          </p:cNvPr>
          <p:cNvSpPr/>
          <p:nvPr/>
        </p:nvSpPr>
        <p:spPr>
          <a:xfrm>
            <a:off x="5172665" y="7742188"/>
            <a:ext cx="4162686" cy="2682896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E3E7325-28DE-1ACE-A3CF-A7F71371656F}"/>
              </a:ext>
            </a:extLst>
          </p:cNvPr>
          <p:cNvCxnSpPr/>
          <p:nvPr/>
        </p:nvCxnSpPr>
        <p:spPr>
          <a:xfrm>
            <a:off x="5248010" y="8260453"/>
            <a:ext cx="34671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0EC89AB-4FDA-0F9F-7655-A2F0A0592D6C}"/>
              </a:ext>
            </a:extLst>
          </p:cNvPr>
          <p:cNvSpPr txBox="1"/>
          <p:nvPr/>
        </p:nvSpPr>
        <p:spPr>
          <a:xfrm>
            <a:off x="5248009" y="7798788"/>
            <a:ext cx="290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기대효과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B3A53C-71A5-2C13-144F-536D90BE43A7}"/>
              </a:ext>
            </a:extLst>
          </p:cNvPr>
          <p:cNvSpPr/>
          <p:nvPr/>
        </p:nvSpPr>
        <p:spPr>
          <a:xfrm>
            <a:off x="261938" y="578256"/>
            <a:ext cx="9077325" cy="1746311"/>
          </a:xfrm>
          <a:prstGeom prst="roundRect">
            <a:avLst>
              <a:gd name="adj" fmla="val 10122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D7B0B-AF60-5739-6280-41611FA94F80}"/>
              </a:ext>
            </a:extLst>
          </p:cNvPr>
          <p:cNvSpPr txBox="1"/>
          <p:nvPr/>
        </p:nvSpPr>
        <p:spPr>
          <a:xfrm>
            <a:off x="401637" y="578257"/>
            <a:ext cx="8797926" cy="174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Project OPUS</a:t>
            </a:r>
            <a:endParaRPr lang="en-US" altLang="ko-KR" sz="3600">
              <a:solidFill>
                <a:srgbClr val="00B0F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게임공학과</a:t>
            </a:r>
            <a:endParaRPr lang="en-US" altLang="ko-KR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지도 교수 </a:t>
            </a:r>
            <a:r>
              <a:rPr lang="en-US" altLang="ko-KR" sz="2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이형구 교수님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6A170BF-2A96-BA7E-037F-9580D0120C91}"/>
              </a:ext>
            </a:extLst>
          </p:cNvPr>
          <p:cNvSpPr/>
          <p:nvPr/>
        </p:nvSpPr>
        <p:spPr>
          <a:xfrm>
            <a:off x="259801" y="2610208"/>
            <a:ext cx="4162688" cy="3625836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94FB-B313-6385-2F9A-2191CFAD9027}"/>
              </a:ext>
            </a:extLst>
          </p:cNvPr>
          <p:cNvSpPr txBox="1"/>
          <p:nvPr/>
        </p:nvSpPr>
        <p:spPr>
          <a:xfrm>
            <a:off x="324936" y="3157687"/>
            <a:ext cx="3962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디지털 게임 기반 학습의 한계 돌파</a:t>
            </a:r>
          </a:p>
          <a:p>
            <a:endParaRPr lang="en-US" altLang="ko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/>
              <a:t>현대 게임 산업에서 기능성 게임은 오락을 넘어 복잡한 과학 개념을 직관적으로 전달하는 매체로 진화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200"/>
              <a:t>기존 물리 기반 게임은 대개 단일 물리 시스템 구현에 국한된다는 한계 존재</a:t>
            </a:r>
          </a:p>
          <a:p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 목표</a:t>
            </a:r>
          </a:p>
          <a:p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언리얼 엔진으로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3D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 게임 개발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ko-KR" sz="1200"/>
              <a:t>열역학과 전자기장이 유기적으로 연쇄 작용하는 복합 물리 시스템을 언리얼 엔진 5 내에 구현</a:t>
            </a:r>
            <a:endParaRPr lang="ko-KR" alt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8CB580B-E9E3-4BF7-C115-8B6DF107DF14}"/>
              </a:ext>
            </a:extLst>
          </p:cNvPr>
          <p:cNvCxnSpPr/>
          <p:nvPr/>
        </p:nvCxnSpPr>
        <p:spPr>
          <a:xfrm>
            <a:off x="459372" y="3116808"/>
            <a:ext cx="34671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51A6D8-5665-7B10-01FB-FF81B5452DFB}"/>
              </a:ext>
            </a:extLst>
          </p:cNvPr>
          <p:cNvSpPr txBox="1"/>
          <p:nvPr/>
        </p:nvSpPr>
        <p:spPr>
          <a:xfrm>
            <a:off x="467810" y="2651182"/>
            <a:ext cx="290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배경 및 목표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4A2F53E-5EC2-F736-D1E5-0862D2166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53"/>
            <a:ext cx="1788319" cy="487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30EEE5-1339-26C5-EA00-A3DB8D951F9F}"/>
              </a:ext>
            </a:extLst>
          </p:cNvPr>
          <p:cNvSpPr/>
          <p:nvPr/>
        </p:nvSpPr>
        <p:spPr>
          <a:xfrm>
            <a:off x="259800" y="6521683"/>
            <a:ext cx="4162687" cy="6149284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D3B3547-D759-3C81-27CA-5D545A0194A8}"/>
              </a:ext>
            </a:extLst>
          </p:cNvPr>
          <p:cNvCxnSpPr/>
          <p:nvPr/>
        </p:nvCxnSpPr>
        <p:spPr>
          <a:xfrm>
            <a:off x="469983" y="7024325"/>
            <a:ext cx="34671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A2E084-6A6D-B221-3929-B120AB6A1D32}"/>
              </a:ext>
            </a:extLst>
          </p:cNvPr>
          <p:cNvSpPr txBox="1"/>
          <p:nvPr/>
        </p:nvSpPr>
        <p:spPr>
          <a:xfrm>
            <a:off x="469982" y="6562660"/>
            <a:ext cx="290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결과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CACB97-D688-4BBF-DA76-391C169B8D06}"/>
              </a:ext>
            </a:extLst>
          </p:cNvPr>
          <p:cNvSpPr txBox="1"/>
          <p:nvPr/>
        </p:nvSpPr>
        <p:spPr>
          <a:xfrm>
            <a:off x="6181724" y="1955235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송형규, 신성재</a:t>
            </a:r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92A68AA-A488-92C9-3302-00EDCC3682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9" t="25182" r="20912" b="20764"/>
          <a:stretch>
            <a:fillRect/>
          </a:stretch>
        </p:blipFill>
        <p:spPr>
          <a:xfrm>
            <a:off x="2446233" y="8143335"/>
            <a:ext cx="540000" cy="54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72AFAFA-D45B-5071-B68E-05A705F063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9" t="25214" r="20365" b="23198"/>
          <a:stretch>
            <a:fillRect/>
          </a:stretch>
        </p:blipFill>
        <p:spPr>
          <a:xfrm>
            <a:off x="2446233" y="7512318"/>
            <a:ext cx="540000" cy="540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933B2CE-9305-0278-1890-5075DF04168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6" t="23342" r="23321" b="19311"/>
          <a:stretch>
            <a:fillRect/>
          </a:stretch>
        </p:blipFill>
        <p:spPr>
          <a:xfrm>
            <a:off x="2446233" y="8774352"/>
            <a:ext cx="540000" cy="540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3C10B2F-E220-6488-8CD7-EAD4360AB1A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7" t="28789" r="25437" b="25423"/>
          <a:stretch>
            <a:fillRect/>
          </a:stretch>
        </p:blipFill>
        <p:spPr>
          <a:xfrm>
            <a:off x="436579" y="8808333"/>
            <a:ext cx="540000" cy="540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24FCC93-5B89-939D-738C-E47F1C74A0D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1" t="27060" r="22242" b="15405"/>
          <a:stretch>
            <a:fillRect/>
          </a:stretch>
        </p:blipFill>
        <p:spPr>
          <a:xfrm>
            <a:off x="430026" y="8136539"/>
            <a:ext cx="540000" cy="540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152075D-2F14-1305-3E7C-9D20A1C0B5F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4" t="27375" r="29103" b="24242"/>
          <a:stretch>
            <a:fillRect/>
          </a:stretch>
        </p:blipFill>
        <p:spPr>
          <a:xfrm>
            <a:off x="435288" y="7512318"/>
            <a:ext cx="540000" cy="540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06ACE43-5416-2A6A-3AD8-6A28AADC36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16157" y="9879888"/>
            <a:ext cx="1868940" cy="113015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F9573466-3AC1-7DAC-35DE-47A61EBE9D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08" y="9856911"/>
            <a:ext cx="1509747" cy="120458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1A5BF6E-E2C9-CEF5-D568-FE4F89BC8A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603" y="11418841"/>
            <a:ext cx="1330708" cy="1130158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EE43602-5F7A-8C36-2633-2DF102DA95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56" y="11412804"/>
            <a:ext cx="1289463" cy="114223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02BAAEA-6088-7255-B07E-ED77725D2A2B}"/>
              </a:ext>
            </a:extLst>
          </p:cNvPr>
          <p:cNvSpPr txBox="1"/>
          <p:nvPr/>
        </p:nvSpPr>
        <p:spPr>
          <a:xfrm>
            <a:off x="977464" y="7495385"/>
            <a:ext cx="146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나무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절연체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연소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8AB06A-CE7A-3100-CAAB-AC10DFAD8197}"/>
              </a:ext>
            </a:extLst>
          </p:cNvPr>
          <p:cNvSpPr txBox="1"/>
          <p:nvPr/>
        </p:nvSpPr>
        <p:spPr>
          <a:xfrm>
            <a:off x="976579" y="8175707"/>
            <a:ext cx="1364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전기 전도율 높음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CB47F9-C46C-EB50-130F-681A2DD36E6F}"/>
              </a:ext>
            </a:extLst>
          </p:cNvPr>
          <p:cNvSpPr txBox="1"/>
          <p:nvPr/>
        </p:nvSpPr>
        <p:spPr>
          <a:xfrm>
            <a:off x="2986233" y="7475601"/>
            <a:ext cx="1064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자석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자성 보유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F9BC5F-3BAE-D481-1F6D-0458B415C1F4}"/>
              </a:ext>
            </a:extLst>
          </p:cNvPr>
          <p:cNvSpPr txBox="1"/>
          <p:nvPr/>
        </p:nvSpPr>
        <p:spPr>
          <a:xfrm>
            <a:off x="2986233" y="8117839"/>
            <a:ext cx="1214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얼음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열전도율 높음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미끄러움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1083EB-EB35-904E-877F-B24891C5F13D}"/>
              </a:ext>
            </a:extLst>
          </p:cNvPr>
          <p:cNvSpPr txBox="1"/>
          <p:nvPr/>
        </p:nvSpPr>
        <p:spPr>
          <a:xfrm>
            <a:off x="2986232" y="8774352"/>
            <a:ext cx="1214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철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전도체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강자성체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F15E8C-62CA-7BEB-F6EB-6ACF08FAC8E1}"/>
              </a:ext>
            </a:extLst>
          </p:cNvPr>
          <p:cNvSpPr txBox="1"/>
          <p:nvPr/>
        </p:nvSpPr>
        <p:spPr>
          <a:xfrm>
            <a:off x="953527" y="8763213"/>
            <a:ext cx="1214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고무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절연체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탄성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F1A620-CB65-FEEA-F08A-722835BC1AD4}"/>
              </a:ext>
            </a:extLst>
          </p:cNvPr>
          <p:cNvSpPr txBox="1"/>
          <p:nvPr/>
        </p:nvSpPr>
        <p:spPr>
          <a:xfrm>
            <a:off x="436579" y="9497893"/>
            <a:ext cx="310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시각적 표현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E10D78-EA56-AC9D-54AC-47574987E07C}"/>
              </a:ext>
            </a:extLst>
          </p:cNvPr>
          <p:cNvSpPr txBox="1"/>
          <p:nvPr/>
        </p:nvSpPr>
        <p:spPr>
          <a:xfrm>
            <a:off x="459372" y="7099280"/>
            <a:ext cx="3467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머티리얼 및 특징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00E835-ABB2-B04B-333F-B5CDF1619BBF}"/>
              </a:ext>
            </a:extLst>
          </p:cNvPr>
          <p:cNvSpPr txBox="1"/>
          <p:nvPr/>
        </p:nvSpPr>
        <p:spPr>
          <a:xfrm>
            <a:off x="398618" y="11038121"/>
            <a:ext cx="18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자기장의 시각적 표현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39662B-32AE-0ED1-90E2-BE373CD5329D}"/>
              </a:ext>
            </a:extLst>
          </p:cNvPr>
          <p:cNvSpPr txBox="1"/>
          <p:nvPr/>
        </p:nvSpPr>
        <p:spPr>
          <a:xfrm>
            <a:off x="2361009" y="11056591"/>
            <a:ext cx="18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열화상 카메라 및 열전도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2001F7-45ED-F7F8-6CE0-C099DADFA603}"/>
              </a:ext>
            </a:extLst>
          </p:cNvPr>
          <p:cNvSpPr txBox="1"/>
          <p:nvPr/>
        </p:nvSpPr>
        <p:spPr>
          <a:xfrm>
            <a:off x="3102717" y="11667203"/>
            <a:ext cx="1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전도체로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전기 흐름 제어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86B960A-FE29-4275-659C-865393C33190}"/>
              </a:ext>
            </a:extLst>
          </p:cNvPr>
          <p:cNvSpPr/>
          <p:nvPr/>
        </p:nvSpPr>
        <p:spPr>
          <a:xfrm>
            <a:off x="5176573" y="2610208"/>
            <a:ext cx="4162689" cy="46859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2B5DCF8-E0BF-A807-0556-DEFCF755E108}"/>
              </a:ext>
            </a:extLst>
          </p:cNvPr>
          <p:cNvCxnSpPr/>
          <p:nvPr/>
        </p:nvCxnSpPr>
        <p:spPr>
          <a:xfrm>
            <a:off x="5248010" y="3112848"/>
            <a:ext cx="34671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F6B673E-6A97-EB30-FDD8-808F6B18253C}"/>
              </a:ext>
            </a:extLst>
          </p:cNvPr>
          <p:cNvSpPr txBox="1"/>
          <p:nvPr/>
        </p:nvSpPr>
        <p:spPr>
          <a:xfrm>
            <a:off x="5248009" y="2651183"/>
            <a:ext cx="290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결과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1E34CB-DB37-9455-3502-571B7B724092}"/>
              </a:ext>
            </a:extLst>
          </p:cNvPr>
          <p:cNvSpPr txBox="1"/>
          <p:nvPr/>
        </p:nvSpPr>
        <p:spPr>
          <a:xfrm>
            <a:off x="5237399" y="3187803"/>
            <a:ext cx="3467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스테이지 퍼즐 </a:t>
            </a:r>
            <a:r>
              <a:rPr lang="en-US" altLang="ko-KR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600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5AF1C3-0A9C-EE1A-6343-EA3B6F20CD7B}"/>
              </a:ext>
            </a:extLst>
          </p:cNvPr>
          <p:cNvSpPr txBox="1"/>
          <p:nvPr/>
        </p:nvSpPr>
        <p:spPr>
          <a:xfrm>
            <a:off x="5199833" y="8301426"/>
            <a:ext cx="40679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복합 물리 프레임워크 제시</a:t>
            </a:r>
            <a:endParaRPr lang="ko-KR" altLang="ko-KR">
              <a:solidFill>
                <a:srgbClr val="00B0F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200"/>
          </a:p>
          <a:p>
            <a:r>
              <a:rPr lang="ko-KR" altLang="ko-KR" sz="1200"/>
              <a:t>언리얼 엔진 5 환경에서 </a:t>
            </a:r>
            <a:r>
              <a:rPr lang="ko-KR" altLang="en-US" sz="1200"/>
              <a:t>여러</a:t>
            </a:r>
            <a:r>
              <a:rPr lang="ko-KR" altLang="ko-KR" sz="1200"/>
              <a:t> 물리 현상들을 유기적으로 결합</a:t>
            </a:r>
            <a:r>
              <a:rPr lang="ko-KR" altLang="en-US" sz="1200"/>
              <a:t>한</a:t>
            </a:r>
            <a:r>
              <a:rPr lang="ko-KR" altLang="ko-KR" sz="1200"/>
              <a:t> 모델 구축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None/>
            </a:pPr>
            <a:r>
              <a:rPr lang="ko-KR" altLang="ko-KR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체험형 교육 플랫폼</a:t>
            </a:r>
            <a:r>
              <a:rPr lang="ko-KR" altLang="en-US" b="1">
                <a:solidFill>
                  <a:srgbClr val="00B0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으로서 가치</a:t>
            </a:r>
            <a:endParaRPr lang="ko-KR" altLang="ko-KR">
              <a:solidFill>
                <a:srgbClr val="00B0F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200"/>
          </a:p>
          <a:p>
            <a:r>
              <a:rPr lang="ko-KR" altLang="ko-KR" sz="1200"/>
              <a:t>텍스트와 수식 위주의 따분한 암기식 학습 탈피</a:t>
            </a:r>
          </a:p>
          <a:p>
            <a:r>
              <a:rPr lang="ko-KR" altLang="ko-KR" sz="1200"/>
              <a:t>퍼즐을 해결하는 과정에서</a:t>
            </a:r>
            <a:endParaRPr lang="en-US" altLang="ko-KR" sz="1200"/>
          </a:p>
          <a:p>
            <a:r>
              <a:rPr lang="ko-KR" altLang="ko-KR" sz="1200"/>
              <a:t>줄 발열과 큐리 온도 법칙 등을 자연스럽게 체득 가능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AB5DD02-ECC1-1705-CF39-48A959E03EF5}"/>
              </a:ext>
            </a:extLst>
          </p:cNvPr>
          <p:cNvSpPr txBox="1"/>
          <p:nvPr/>
        </p:nvSpPr>
        <p:spPr>
          <a:xfrm>
            <a:off x="5818688" y="10533370"/>
            <a:ext cx="28858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게임으로</a:t>
            </a:r>
            <a:endParaRPr lang="en-US" altLang="ko-KR" sz="3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물리를 쉽게</a:t>
            </a:r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!”</a:t>
            </a:r>
            <a:endParaRPr lang="ko-KR" altLang="en-US" sz="3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BC34E6BF-83DF-25A5-D8CC-C5843ADE2B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4536" y="4739422"/>
            <a:ext cx="1954859" cy="1076307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09F9D5F-C6DE-588F-BB71-284C982C7F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2688" y="5987449"/>
            <a:ext cx="1890603" cy="1068468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D984B8AB-8AA1-675A-0B8B-EEB1342782E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609" y="3601311"/>
            <a:ext cx="1838759" cy="1030205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5F89FDDF-0E7A-12B2-83AD-03A1509AF842}"/>
              </a:ext>
            </a:extLst>
          </p:cNvPr>
          <p:cNvSpPr txBox="1"/>
          <p:nvPr/>
        </p:nvSpPr>
        <p:spPr>
          <a:xfrm>
            <a:off x="7332243" y="3823905"/>
            <a:ext cx="1829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구리나 철을 활용하여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직접 회로를 구성해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일정 전압으로 만들기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9668BE9-AD66-F710-6064-EB0DC6C65E62}"/>
              </a:ext>
            </a:extLst>
          </p:cNvPr>
          <p:cNvSpPr txBox="1"/>
          <p:nvPr/>
        </p:nvSpPr>
        <p:spPr>
          <a:xfrm>
            <a:off x="5310729" y="5035819"/>
            <a:ext cx="182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자석을 통해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유도전류의 전력을 조절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A555F45-7C3C-902C-90D8-59025D7904B6}"/>
              </a:ext>
            </a:extLst>
          </p:cNvPr>
          <p:cNvSpPr txBox="1"/>
          <p:nvPr/>
        </p:nvSpPr>
        <p:spPr>
          <a:xfrm>
            <a:off x="7359406" y="6277394"/>
            <a:ext cx="182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다양한 머티리얼들의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특성을 이용한 미로 퍼즐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51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185</Words>
  <Application>Microsoft Office PowerPoint</Application>
  <PresentationFormat>A3 용지(297x420mm)</PresentationFormat>
  <Paragraphs>60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 Sans KR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형규 송</dc:creator>
  <cp:lastModifiedBy>형규 송</cp:lastModifiedBy>
  <cp:revision>5</cp:revision>
  <dcterms:created xsi:type="dcterms:W3CDTF">2026-06-17T13:06:42Z</dcterms:created>
  <dcterms:modified xsi:type="dcterms:W3CDTF">2026-06-18T15:19:51Z</dcterms:modified>
</cp:coreProperties>
</file>